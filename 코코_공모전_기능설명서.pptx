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9" r:id="rId2"/>
    <p:sldId id="258" r:id="rId3"/>
    <p:sldId id="267" r:id="rId4"/>
    <p:sldId id="268" r:id="rId5"/>
    <p:sldId id="263" r:id="rId6"/>
    <p:sldId id="260" r:id="rId7"/>
    <p:sldId id="270" r:id="rId17"/>
    <p:sldId id="269" r:id="rId16"/>
    <p:sldId id="264" r:id="rId8"/>
    <p:sldId id="265" r:id="rId9"/>
    <p:sldId id="266" r:id="rId1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6F00"/>
    <a:srgbClr val="FFA401"/>
    <a:srgbClr val="FFFDE7"/>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100" d="100"/>
          <a:sy n="100" d="100"/>
        </p:scale>
        <p:origin x="936" y="3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8.xml"/><Relationship Id="rId17"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3549DB-4EF3-40B0-A785-8572249070D6}" type="datetimeFigureOut">
              <a:rPr lang="ko-KR" altLang="en-US" smtClean="0"/>
              <a:t>2026-07-29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4097B3-0D7D-4E86-933F-EBF9BA5F97E0}" type="slidenum">
              <a:rPr lang="ko-KR" altLang="en-US" smtClean="0"/>
              <a:t>‹#›</a:t>
            </a:fld>
            <a:endParaRPr lang="ko-KR" altLang="en-US"/>
          </a:p>
        </p:txBody>
      </p:sp>
    </p:spTree>
    <p:extLst>
      <p:ext uri="{BB962C8B-B14F-4D97-AF65-F5344CB8AC3E}">
        <p14:creationId xmlns:p14="http://schemas.microsoft.com/office/powerpoint/2010/main" val="19321721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표지">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65710554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서비스 소개">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353622321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지역 특화 서비스 구현 세부내용">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0" y="0"/>
            <a:ext cx="12192000" cy="6840835"/>
          </a:xfrm>
          <a:prstGeom prst="rect">
            <a:avLst/>
          </a:prstGeom>
        </p:spPr>
      </p:pic>
    </p:spTree>
    <p:extLst>
      <p:ext uri="{BB962C8B-B14F-4D97-AF65-F5344CB8AC3E}">
        <p14:creationId xmlns:p14="http://schemas.microsoft.com/office/powerpoint/2010/main" val="367999864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서비스 핵심 기능별 흐름도">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13438" y="18574"/>
            <a:ext cx="12165123" cy="6839426"/>
          </a:xfrm>
          <a:prstGeom prst="rect">
            <a:avLst/>
          </a:prstGeom>
        </p:spPr>
      </p:pic>
    </p:spTree>
    <p:extLst>
      <p:ext uri="{BB962C8B-B14F-4D97-AF65-F5344CB8AC3E}">
        <p14:creationId xmlns:p14="http://schemas.microsoft.com/office/powerpoint/2010/main" val="143966490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데이터 활용(한국관광공사 OpenAPI)">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3912" y="13811"/>
            <a:ext cx="12184175" cy="6830378"/>
          </a:xfrm>
          <a:prstGeom prst="rect">
            <a:avLst/>
          </a:prstGeom>
        </p:spPr>
      </p:pic>
    </p:spTree>
    <p:extLst>
      <p:ext uri="{BB962C8B-B14F-4D97-AF65-F5344CB8AC3E}">
        <p14:creationId xmlns:p14="http://schemas.microsoft.com/office/powerpoint/2010/main" val="256122898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데이터 활용(기타)">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8675" y="9047"/>
            <a:ext cx="12174649" cy="6839905"/>
          </a:xfrm>
          <a:prstGeom prst="rect">
            <a:avLst/>
          </a:prstGeom>
        </p:spPr>
      </p:pic>
    </p:spTree>
    <p:extLst>
      <p:ext uri="{BB962C8B-B14F-4D97-AF65-F5344CB8AC3E}">
        <p14:creationId xmlns:p14="http://schemas.microsoft.com/office/powerpoint/2010/main" val="350983382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서비스 차별성&amp;발전계획">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3912" y="4284"/>
            <a:ext cx="12184175" cy="6849431"/>
          </a:xfrm>
          <a:prstGeom prst="rect">
            <a:avLst/>
          </a:prstGeom>
        </p:spPr>
      </p:pic>
    </p:spTree>
    <p:extLst>
      <p:ext uri="{BB962C8B-B14F-4D97-AF65-F5344CB8AC3E}">
        <p14:creationId xmlns:p14="http://schemas.microsoft.com/office/powerpoint/2010/main" val="145924939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4A38FB6A-844E-4645-B6B8-D2945F9927BB}" type="datetimeFigureOut">
              <a:rPr lang="ko-KR" altLang="en-US" smtClean="0"/>
              <a:t>2026-07-29</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38832701-68F9-4777-ABB9-C14E97591467}" type="slidenum">
              <a:rPr lang="ko-KR" altLang="en-US" smtClean="0"/>
              <a:t>‹#›</a:t>
            </a:fld>
            <a:endParaRPr lang="ko-KR" altLang="en-US"/>
          </a:p>
        </p:txBody>
      </p:sp>
      <p:grpSp>
        <p:nvGrpSpPr>
          <p:cNvPr id="14" name="그룹 13"/>
          <p:cNvGrpSpPr/>
          <p:nvPr userDrawn="1"/>
        </p:nvGrpSpPr>
        <p:grpSpPr>
          <a:xfrm>
            <a:off x="189807" y="256797"/>
            <a:ext cx="11812386" cy="580915"/>
            <a:chOff x="189807" y="256797"/>
            <a:chExt cx="11812386" cy="580915"/>
          </a:xfrm>
        </p:grpSpPr>
        <p:grpSp>
          <p:nvGrpSpPr>
            <p:cNvPr id="10" name="그룹 9"/>
            <p:cNvGrpSpPr/>
            <p:nvPr/>
          </p:nvGrpSpPr>
          <p:grpSpPr>
            <a:xfrm>
              <a:off x="8161715" y="256797"/>
              <a:ext cx="3840478" cy="340519"/>
              <a:chOff x="6733312" y="182882"/>
              <a:chExt cx="3840478" cy="340519"/>
            </a:xfrm>
          </p:grpSpPr>
          <p:sp>
            <p:nvSpPr>
              <p:cNvPr id="12" name="TextBox 11"/>
              <p:cNvSpPr txBox="1"/>
              <p:nvPr/>
            </p:nvSpPr>
            <p:spPr>
              <a:xfrm>
                <a:off x="6733312" y="182882"/>
                <a:ext cx="2419001" cy="340519"/>
              </a:xfrm>
              <a:prstGeom prst="roundRect">
                <a:avLst/>
              </a:prstGeom>
              <a:solidFill>
                <a:srgbClr val="FF6F00"/>
              </a:solidFill>
            </p:spPr>
            <p:txBody>
              <a:bodyPr wrap="square" rtlCol="0">
                <a:spAutoFit/>
              </a:bodyPr>
              <a:lstStyle/>
              <a:p>
                <a:pPr algn="ctr"/>
                <a:r>
                  <a:rPr lang="en-US" altLang="ko-KR" sz="1400" dirty="0" smtClean="0">
                    <a:solidFill>
                      <a:schemeClr val="bg1"/>
                    </a:solidFill>
                    <a:latin typeface="Noto Sans KR Medium" panose="020B0600000000000000" pitchFamily="34" charset="-127"/>
                    <a:ea typeface="Noto Sans KR Medium" panose="020B0600000000000000" pitchFamily="34" charset="-127"/>
                  </a:rPr>
                  <a:t>2026 </a:t>
                </a:r>
                <a:r>
                  <a:rPr lang="ko-KR" altLang="en-US" sz="1400" dirty="0" smtClean="0">
                    <a:solidFill>
                      <a:schemeClr val="bg1"/>
                    </a:solidFill>
                    <a:latin typeface="Noto Sans KR Medium" panose="020B0600000000000000" pitchFamily="34" charset="-127"/>
                    <a:ea typeface="Noto Sans KR Medium" panose="020B0600000000000000" pitchFamily="34" charset="-127"/>
                  </a:rPr>
                  <a:t>관광데이터 활용 공모전</a:t>
                </a:r>
                <a:endParaRPr lang="ko-KR" altLang="en-US" sz="1400" dirty="0">
                  <a:solidFill>
                    <a:schemeClr val="bg1"/>
                  </a:solidFill>
                  <a:latin typeface="Noto Sans KR Medium" panose="020B0600000000000000" pitchFamily="34" charset="-127"/>
                  <a:ea typeface="Noto Sans KR Medium" panose="020B0600000000000000" pitchFamily="34" charset="-127"/>
                </a:endParaRPr>
              </a:p>
            </p:txBody>
          </p:sp>
          <p:sp>
            <p:nvSpPr>
              <p:cNvPr id="13" name="TextBox 12"/>
              <p:cNvSpPr txBox="1"/>
              <p:nvPr/>
            </p:nvSpPr>
            <p:spPr>
              <a:xfrm>
                <a:off x="9246526" y="182882"/>
                <a:ext cx="1327264" cy="340519"/>
              </a:xfrm>
              <a:prstGeom prst="roundRect">
                <a:avLst/>
              </a:prstGeom>
              <a:solidFill>
                <a:srgbClr val="FFFDE7"/>
              </a:solidFill>
            </p:spPr>
            <p:txBody>
              <a:bodyPr wrap="square" rtlCol="0">
                <a:spAutoFit/>
              </a:bodyPr>
              <a:lstStyle/>
              <a:p>
                <a:pPr algn="ctr"/>
                <a:r>
                  <a:rPr lang="ko-KR" altLang="en-US" sz="1400" dirty="0" smtClean="0">
                    <a:latin typeface="Noto Sans KR Medium" panose="020B0600000000000000" pitchFamily="34" charset="-127"/>
                    <a:ea typeface="Noto Sans KR Medium" panose="020B0600000000000000" pitchFamily="34" charset="-127"/>
                  </a:rPr>
                  <a:t>웹〮앱 개발 부문</a:t>
                </a:r>
                <a:endParaRPr lang="ko-KR" altLang="en-US" sz="1400" dirty="0">
                  <a:latin typeface="Noto Sans KR Medium" panose="020B0600000000000000" pitchFamily="34" charset="-127"/>
                  <a:ea typeface="Noto Sans KR Medium" panose="020B0600000000000000" pitchFamily="34" charset="-127"/>
                </a:endParaRPr>
              </a:p>
            </p:txBody>
          </p:sp>
        </p:grpSp>
        <p:sp>
          <p:nvSpPr>
            <p:cNvPr id="11" name="직사각형 10"/>
            <p:cNvSpPr/>
            <p:nvPr/>
          </p:nvSpPr>
          <p:spPr>
            <a:xfrm>
              <a:off x="189807" y="791993"/>
              <a:ext cx="11812386" cy="45719"/>
            </a:xfrm>
            <a:prstGeom prst="rect">
              <a:avLst/>
            </a:prstGeom>
            <a:solidFill>
              <a:srgbClr val="FF6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39394489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38FB6A-844E-4645-B6B8-D2945F9927BB}" type="datetimeFigureOut">
              <a:rPr lang="ko-KR" altLang="en-US" smtClean="0"/>
              <a:t>2026-07-29</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832701-68F9-4777-ABB9-C14E97591467}" type="slidenum">
              <a:rPr lang="ko-KR" altLang="en-US" smtClean="0"/>
              <a:t>‹#›</a:t>
            </a:fld>
            <a:endParaRPr lang="ko-KR" altLang="en-US"/>
          </a:p>
        </p:txBody>
      </p:sp>
    </p:spTree>
    <p:extLst>
      <p:ext uri="{BB962C8B-B14F-4D97-AF65-F5344CB8AC3E}">
        <p14:creationId xmlns:p14="http://schemas.microsoft.com/office/powerpoint/2010/main" val="2217332544"/>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60" r:id="rId3"/>
    <p:sldLayoutId id="2147483661" r:id="rId4"/>
    <p:sldLayoutId id="2147483662" r:id="rId5"/>
    <p:sldLayoutId id="2147483663" r:id="rId6"/>
    <p:sldLayoutId id="2147483664" r:id="rId7"/>
    <p:sldLayoutId id="2147483665" r:id="rId8"/>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표 5"/>
          <p:cNvGraphicFramePr>
            <a:graphicFrameLocks noGrp="1"/>
          </p:cNvGraphicFramePr>
          <p:nvPr>
            <p:extLst>
              <p:ext uri="{D42A27DB-BD31-4B8C-83A1-F6EECF244321}">
                <p14:modId xmlns:p14="http://schemas.microsoft.com/office/powerpoint/2010/main" val="84002065"/>
              </p:ext>
            </p:extLst>
          </p:nvPr>
        </p:nvGraphicFramePr>
        <p:xfrm>
          <a:off x="527397" y="4563687"/>
          <a:ext cx="6712988" cy="1112210"/>
        </p:xfrm>
        <a:graphic>
          <a:graphicData uri="http://schemas.openxmlformats.org/drawingml/2006/table">
            <a:tbl>
              <a:tblPr firstRow="1" bandRow="1">
                <a:tableStyleId>{5C22544A-7EE6-4342-B048-85BDC9FD1C3A}</a:tableStyleId>
              </a:tblPr>
              <a:tblGrid>
                <a:gridCol w="1891569">
                  <a:extLst>
                    <a:ext uri="{9D8B030D-6E8A-4147-A177-3AD203B41FA5}">
                      <a16:colId xmlns:a16="http://schemas.microsoft.com/office/drawing/2014/main" val="2581860913"/>
                    </a:ext>
                  </a:extLst>
                </a:gridCol>
                <a:gridCol w="4821419">
                  <a:extLst>
                    <a:ext uri="{9D8B030D-6E8A-4147-A177-3AD203B41FA5}">
                      <a16:colId xmlns:a16="http://schemas.microsoft.com/office/drawing/2014/main" val="1059508984"/>
                    </a:ext>
                  </a:extLst>
                </a:gridCol>
              </a:tblGrid>
              <a:tr h="547792">
                <a:tc>
                  <a:txBody>
                    <a:bodyPr/>
                    <a:lstStyle/>
                    <a:p>
                      <a:pPr algn="ctr" latinLnBrk="1"/>
                      <a:r>
                        <a:rPr lang="ko-KR" altLang="en-US" sz="2400" b="1" dirty="0" smtClean="0">
                          <a:solidFill>
                            <a:schemeClr val="bg1"/>
                          </a:solidFill>
                        </a:rPr>
                        <a:t>팀 명</a:t>
                      </a:r>
                      <a:endParaRPr lang="ko-KR" altLang="en-US" sz="2400" b="1" dirty="0">
                        <a:solidFill>
                          <a:schemeClr val="bg1"/>
                        </a:solidFill>
                      </a:endParaRPr>
                    </a:p>
                  </a:txBody>
                  <a:tcPr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latinLnBrk="1"/>
                      <a:r>
                        <a:rPr sz="2400" b="0">
                          <a:solidFill>
                            <a:srgbClr val="1A1A1A"/>
                          </a:solidFill>
                        </a:rPr>
                        <a:t>함 뷰(View)여주자</a:t>
                      </a:r>
                      <a:endParaRPr lang="ko-KR" altLang="en-US" sz="2400"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FFFDE7"/>
                    </a:solidFill>
                  </a:tcPr>
                </a:tc>
                <a:extLst>
                  <a:ext uri="{0D108BD9-81ED-4DB2-BD59-A6C34878D82A}">
                    <a16:rowId xmlns:a16="http://schemas.microsoft.com/office/drawing/2014/main" val="3342559057"/>
                  </a:ext>
                </a:extLst>
              </a:tr>
              <a:tr h="564418">
                <a:tc>
                  <a:txBody>
                    <a:bodyPr/>
                    <a:lstStyle/>
                    <a:p>
                      <a:pPr algn="ctr" latinLnBrk="1"/>
                      <a:r>
                        <a:rPr lang="ko-KR" altLang="en-US" sz="2400" b="1" dirty="0" smtClean="0">
                          <a:solidFill>
                            <a:schemeClr val="bg1"/>
                          </a:solidFill>
                        </a:rPr>
                        <a:t>서비스</a:t>
                      </a:r>
                      <a:r>
                        <a:rPr lang="ko-KR" altLang="en-US" sz="2400" b="1" baseline="0" dirty="0" smtClean="0">
                          <a:solidFill>
                            <a:schemeClr val="bg1"/>
                          </a:solidFill>
                        </a:rPr>
                        <a:t> </a:t>
                      </a:r>
                      <a:r>
                        <a:rPr lang="ko-KR" altLang="en-US" sz="2400" b="1" dirty="0" smtClean="0">
                          <a:solidFill>
                            <a:schemeClr val="bg1"/>
                          </a:solidFill>
                        </a:rPr>
                        <a:t>명</a:t>
                      </a:r>
                      <a:endParaRPr lang="ko-KR" altLang="en-US" sz="2400" b="1" dirty="0">
                        <a:solidFill>
                          <a:schemeClr val="bg1"/>
                        </a:solidFill>
                      </a:endParaRP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FFA401"/>
                    </a:solidFill>
                  </a:tcPr>
                </a:tc>
                <a:tc>
                  <a:txBody>
                    <a:bodyPr/>
                    <a:lstStyle/>
                    <a:p>
                      <a:pPr latinLnBrk="1"/>
                      <a:r>
                        <a:rPr sz="2400" b="0">
                          <a:solidFill>
                            <a:srgbClr val="1A1A1A"/>
                          </a:solidFill>
                        </a:rPr>
                        <a:t>코코 (COCO)</a:t>
                      </a:r>
                      <a:endParaRPr lang="ko-KR" altLang="en-US" sz="2400"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FFFDE7"/>
                    </a:solidFill>
                  </a:tcPr>
                </a:tc>
                <a:extLst>
                  <a:ext uri="{0D108BD9-81ED-4DB2-BD59-A6C34878D82A}">
                    <a16:rowId xmlns:a16="http://schemas.microsoft.com/office/drawing/2014/main" val="2441169869"/>
                  </a:ext>
                </a:extLst>
              </a:tr>
            </a:tbl>
          </a:graphicData>
        </a:graphic>
      </p:graphicFrame>
    </p:spTree>
    <p:extLst>
      <p:ext uri="{BB962C8B-B14F-4D97-AF65-F5344CB8AC3E}">
        <p14:creationId xmlns:p14="http://schemas.microsoft.com/office/powerpoint/2010/main" val="13534498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표 16"/>
          <p:cNvGraphicFramePr>
            <a:graphicFrameLocks noGrp="1"/>
          </p:cNvGraphicFramePr>
          <p:nvPr>
            <p:extLst>
              <p:ext uri="{D42A27DB-BD31-4B8C-83A1-F6EECF244321}">
                <p14:modId xmlns:p14="http://schemas.microsoft.com/office/powerpoint/2010/main" val="3131695012"/>
              </p:ext>
            </p:extLst>
          </p:nvPr>
        </p:nvGraphicFramePr>
        <p:xfrm>
          <a:off x="287250" y="1218429"/>
          <a:ext cx="11649825" cy="4750109"/>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547212">
                <a:tc>
                  <a:txBody>
                    <a:bodyPr/>
                    <a:lstStyle/>
                    <a:p>
                      <a:pPr algn="ctr" latinLnBrk="1"/>
                      <a:r>
                        <a:rPr lang="ko-KR" altLang="en-US" b="1" dirty="0" smtClean="0">
                          <a:solidFill>
                            <a:schemeClr val="bg1"/>
                          </a:solidFill>
                        </a:rPr>
                        <a:t>서비스명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lvl="0" indent="0" algn="just" rtl="0">
                        <a:spcBef>
                          <a:spcPts val="0"/>
                        </a:spcBef>
                        <a:spcAft>
                          <a:spcPts val="0"/>
                        </a:spcAft>
                        <a:buNone/>
                      </a:pPr>
                      <a:r>
                        <a:rPr sz="1800" b="0">
                          <a:solidFill>
                            <a:srgbClr val="1A1A1A"/>
                          </a:solidFill>
                        </a:rPr>
                        <a:t>코코 (COCO)</a:t>
                      </a:r>
                      <a:endParaRPr lang="en-US" altLang="ko-KR" sz="1800" b="0" baseline="0" dirty="0" smtClean="0">
                        <a:solidFill>
                          <a:schemeClr val="tx1"/>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731060">
                <a:tc>
                  <a:txBody>
                    <a:bodyPr/>
                    <a:lstStyle/>
                    <a:p>
                      <a:pPr algn="ctr" latinLnBrk="1"/>
                      <a:r>
                        <a:rPr lang="ko-KR" altLang="en-US" b="1" dirty="0" smtClean="0">
                          <a:solidFill>
                            <a:schemeClr val="bg1"/>
                          </a:solidFill>
                        </a:rPr>
                        <a:t>서비스 유형</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lvl="0" indent="0" algn="just" rtl="0">
                        <a:spcBef>
                          <a:spcPts val="0"/>
                        </a:spcBef>
                        <a:spcAft>
                          <a:spcPts val="0"/>
                        </a:spcAft>
                        <a:buNone/>
                      </a:pPr>
                      <a:r>
                        <a:rPr sz="1800" b="0">
                          <a:solidFill>
                            <a:srgbClr val="1A1A1A"/>
                          </a:solidFill>
                        </a:rPr>
                        <a:t>앱 서비스</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26837495"/>
                  </a:ext>
                </a:extLst>
              </a:tr>
              <a:tr h="1030246">
                <a:tc>
                  <a:txBody>
                    <a:bodyPr/>
                    <a:lstStyle/>
                    <a:p>
                      <a:pPr algn="ctr" latinLnBrk="1"/>
                      <a:r>
                        <a:rPr lang="ko-KR" altLang="en-US" b="1" dirty="0" smtClean="0">
                          <a:solidFill>
                            <a:schemeClr val="bg1"/>
                          </a:solidFill>
                        </a:rPr>
                        <a:t>서비스 개요</a:t>
                      </a:r>
                      <a:endParaRPr lang="en-US" altLang="ko-KR"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500" b="0">
                          <a:solidFill>
                            <a:srgbClr val="1A1A1A"/>
                          </a:solidFill>
                        </a:rPr>
                        <a:t>모두가 멈춰 서는 랜드마크 너머, 로컬 주민이 직접 발굴한 부산 골목 정보를 다국어로 큐레이션하고 실시간 Q&amp;A로 살아있게 유지하는 외국인 관광객 대상 로컬 골목 탐험 앱</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64568051"/>
                  </a:ext>
                </a:extLst>
              </a:tr>
              <a:tr h="2441591">
                <a:tc>
                  <a:txBody>
                    <a:bodyPr/>
                    <a:lstStyle/>
                    <a:p>
                      <a:pPr algn="ctr" latinLnBrk="1"/>
                      <a:r>
                        <a:rPr lang="ko-KR" altLang="en-US" b="1" dirty="0" smtClean="0">
                          <a:solidFill>
                            <a:schemeClr val="bg1"/>
                          </a:solidFill>
                        </a:rPr>
                        <a:t>주제 선정 이유</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300" b="0">
                          <a:solidFill>
                            <a:srgbClr val="1A1A1A"/>
                          </a:solidFill>
                        </a:rPr>
                        <a:t>2025년 부산을 찾은 외국인 관광객은 역대 최다인 364만 명, 평균 체류기간은 4.4일에서 6.2일로, 1인당 소비액은 567달러에서 828달러로 늘며 '스치는 도시'에서 '머무는 목적지'로 여행 방식이 바뀌고 있음. 그러나 2023년 관광공사 조사에서 외국인 관광객의 58%가 정보 부족을 주요 불편사항으로 꼽았고, 기존 다국어 관광 앱은 랜드마크 중심이라 골목 상권·동네 노포 정보가 비어 있어, 이 정보 공백을 로컬 주민의 참여로 메우기 위해 기획함</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412154"/>
                  </a:ext>
                </a:extLst>
              </a:tr>
            </a:tbl>
          </a:graphicData>
        </a:graphic>
      </p:graphicFrame>
    </p:spTree>
    <p:extLst>
      <p:ext uri="{BB962C8B-B14F-4D97-AF65-F5344CB8AC3E}">
        <p14:creationId xmlns:p14="http://schemas.microsoft.com/office/powerpoint/2010/main" val="15260009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표 16"/>
          <p:cNvGraphicFramePr>
            <a:graphicFrameLocks noGrp="1"/>
          </p:cNvGraphicFramePr>
          <p:nvPr>
            <p:extLst>
              <p:ext uri="{D42A27DB-BD31-4B8C-83A1-F6EECF244321}">
                <p14:modId xmlns:p14="http://schemas.microsoft.com/office/powerpoint/2010/main" val="3960646751"/>
              </p:ext>
            </p:extLst>
          </p:nvPr>
        </p:nvGraphicFramePr>
        <p:xfrm>
          <a:off x="287250" y="1218429"/>
          <a:ext cx="11649826" cy="4733484"/>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4">
                  <a:extLst>
                    <a:ext uri="{9D8B030D-6E8A-4147-A177-3AD203B41FA5}">
                      <a16:colId xmlns:a16="http://schemas.microsoft.com/office/drawing/2014/main" val="3999346814"/>
                    </a:ext>
                  </a:extLst>
                </a:gridCol>
              </a:tblGrid>
              <a:tr h="4733484">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dirty="0" smtClean="0">
                          <a:solidFill>
                            <a:schemeClr val="bg1"/>
                          </a:solidFill>
                        </a:rPr>
                        <a:t>서비스 핵심기능</a:t>
                      </a:r>
                    </a:p>
                    <a:p>
                      <a:pPr algn="ctr" latinLnBrk="1"/>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400" b="0">
                          <a:solidFill>
                            <a:srgbClr val="1A1A1A"/>
                          </a:solidFill>
                        </a:rPr>
                        <a:t>1. 위치 기반 다국어 로컬 맵 큐레이션 : LOCAL이 등록한 스팟을 관리자 심사·자동 번역(일/영) 후 한국관광공사 공식 관광데이터와 함께 다국어 마커로 지도에 반영</a:t>
                      </a:r>
                    </a:p>
                    <a:p>
                      <a:pPr marL="0" marR="0" lvl="0" indent="0" algn="just" defTabSz="914400" rtl="0" eaLnBrk="1" fontAlgn="auto" latinLnBrk="1" hangingPunct="1">
                        <a:lnSpc>
                          <a:spcPct val="100000"/>
                        </a:lnSpc>
                        <a:spcBef>
                          <a:spcPts val="0"/>
                        </a:spcBef>
                        <a:spcAft>
                          <a:spcPts val="0"/>
                        </a:spcAft>
                        <a:buClrTx/>
                        <a:buSzTx/>
                        <a:buFontTx/>
                        <a:buNone/>
                        <a:tabLst/>
                        <a:defRPr/>
                      </a:pPr>
                      <a:r>
                        <a:rPr sz="1400" b="0">
                          <a:solidFill>
                            <a:srgbClr val="1A1A1A"/>
                          </a:solidFill>
                        </a:rPr>
                        <a:t>2. 실시간 로컬-관광객 Q&amp;A 커뮤니티 : 로컬 주민이 실시간 답변, 답변 채택 시 로컬 배지 부여, 현장 곤란 상황을 위한 SOS 긴급 라우팅 제공</a:t>
                      </a:r>
                    </a:p>
                    <a:p>
                      <a:pPr marL="0" marR="0" lvl="0" indent="0" algn="just" defTabSz="914400" rtl="0" eaLnBrk="1" fontAlgn="auto" latinLnBrk="1" hangingPunct="1">
                        <a:lnSpc>
                          <a:spcPct val="100000"/>
                        </a:lnSpc>
                        <a:spcBef>
                          <a:spcPts val="0"/>
                        </a:spcBef>
                        <a:spcAft>
                          <a:spcPts val="0"/>
                        </a:spcAft>
                        <a:buClrTx/>
                        <a:buSzTx/>
                        <a:buFontTx/>
                        <a:buNone/>
                        <a:tabLst/>
                        <a:defRPr/>
                      </a:pPr>
                      <a:r>
                        <a:rPr sz="1400" b="0">
                          <a:solidFill>
                            <a:srgbClr val="1A1A1A"/>
                          </a:solidFill>
                        </a:rPr>
                        <a:t>3. 감성 로컬 스팟 사진 탐색(피드) : 인스타그램식 즉시 좋아요·저장·공유와 당근마켓식 상세화면으로 로컬 스팟 공유·소통</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bl>
          </a:graphicData>
        </a:graphic>
      </p:graphicFrame>
    </p:spTree>
    <p:extLst>
      <p:ext uri="{BB962C8B-B14F-4D97-AF65-F5344CB8AC3E}">
        <p14:creationId xmlns:p14="http://schemas.microsoft.com/office/powerpoint/2010/main" val="40986881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표 16"/>
          <p:cNvGraphicFramePr>
            <a:graphicFrameLocks noGrp="1"/>
          </p:cNvGraphicFramePr>
          <p:nvPr>
            <p:extLst>
              <p:ext uri="{D42A27DB-BD31-4B8C-83A1-F6EECF244321}">
                <p14:modId xmlns:p14="http://schemas.microsoft.com/office/powerpoint/2010/main" val="1267559681"/>
              </p:ext>
            </p:extLst>
          </p:nvPr>
        </p:nvGraphicFramePr>
        <p:xfrm>
          <a:off x="287250" y="1218429"/>
          <a:ext cx="11649826" cy="4991178"/>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4">
                  <a:extLst>
                    <a:ext uri="{9D8B030D-6E8A-4147-A177-3AD203B41FA5}">
                      <a16:colId xmlns:a16="http://schemas.microsoft.com/office/drawing/2014/main" val="3999346814"/>
                    </a:ext>
                  </a:extLst>
                </a:gridCol>
              </a:tblGrid>
              <a:tr h="1847697">
                <a:tc>
                  <a:txBody>
                    <a:bodyPr/>
                    <a:lstStyle/>
                    <a:p>
                      <a:pPr algn="ctr" latinLnBrk="1"/>
                      <a:r>
                        <a:rPr lang="ko-KR" altLang="en-US" b="1" dirty="0" smtClean="0">
                          <a:solidFill>
                            <a:schemeClr val="bg1"/>
                          </a:solidFill>
                        </a:rPr>
                        <a:t>서비스</a:t>
                      </a:r>
                      <a:endParaRPr lang="en-US" altLang="ko-KR" b="1" dirty="0" smtClean="0">
                        <a:solidFill>
                          <a:schemeClr val="bg1"/>
                        </a:solidFill>
                      </a:endParaRPr>
                    </a:p>
                    <a:p>
                      <a:pPr algn="ctr" latinLnBrk="1"/>
                      <a:r>
                        <a:rPr lang="ko-KR" altLang="en-US" b="1" dirty="0" smtClean="0">
                          <a:solidFill>
                            <a:schemeClr val="bg1"/>
                          </a:solidFill>
                        </a:rPr>
                        <a:t>대표 이미지</a:t>
                      </a:r>
                      <a:endParaRPr lang="en-US" altLang="ko-KR" b="1" dirty="0" smtClean="0">
                        <a:solidFill>
                          <a:schemeClr val="bg1"/>
                        </a:solidFill>
                      </a:endParaRPr>
                    </a:p>
                    <a:p>
                      <a:pPr algn="ctr" latinLnBrk="1"/>
                      <a:r>
                        <a:rPr lang="en-US" altLang="ko-KR" b="1" dirty="0" smtClean="0">
                          <a:solidFill>
                            <a:schemeClr val="bg1"/>
                          </a:solidFill>
                        </a:rPr>
                        <a:t>(</a:t>
                      </a:r>
                      <a:r>
                        <a:rPr lang="ko-KR" altLang="en-US" b="1" dirty="0" err="1" smtClean="0">
                          <a:solidFill>
                            <a:schemeClr val="bg1"/>
                          </a:solidFill>
                        </a:rPr>
                        <a:t>썸네일</a:t>
                      </a:r>
                      <a:r>
                        <a:rPr lang="en-US" altLang="ko-KR" b="1" dirty="0" smtClean="0">
                          <a:solidFill>
                            <a:schemeClr val="bg1"/>
                          </a:solidFill>
                        </a:rPr>
                        <a:t>)</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800" b="0" dirty="0" smtClean="0">
                          <a:solidFill>
                            <a:srgbClr val="FF0000"/>
                          </a:solidFill>
                          <a:latin typeface="+mn-lt"/>
                        </a:rPr>
                        <a:t>※ </a:t>
                      </a:r>
                      <a:r>
                        <a:rPr lang="ko-KR" altLang="en-US" sz="1800" b="0" dirty="0" smtClean="0">
                          <a:solidFill>
                            <a:srgbClr val="FF0000"/>
                          </a:solidFill>
                          <a:latin typeface="+mn-lt"/>
                        </a:rPr>
                        <a:t>본 가이드 문구 삭제 후 이미지 첨부</a:t>
                      </a:r>
                      <a:endParaRPr lang="en-US" altLang="ko-KR" sz="1800" b="0" dirty="0" smtClean="0">
                        <a:solidFill>
                          <a:srgbClr val="FF0000"/>
                        </a:solidFill>
                        <a:latin typeface="+mn-lt"/>
                      </a:endParaRPr>
                    </a:p>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1800" b="0" baseline="0" dirty="0" smtClean="0">
                          <a:solidFill>
                            <a:schemeClr val="tx1"/>
                          </a:solidFill>
                          <a:latin typeface="+mn-lt"/>
                        </a:rPr>
                        <a:t>웹</a:t>
                      </a:r>
                      <a:r>
                        <a:rPr lang="en-US" altLang="ko-KR" sz="1800" b="0" baseline="0" dirty="0" smtClean="0">
                          <a:solidFill>
                            <a:schemeClr val="tx1"/>
                          </a:solidFill>
                          <a:latin typeface="+mn-lt"/>
                        </a:rPr>
                        <a:t>/</a:t>
                      </a:r>
                      <a:r>
                        <a:rPr lang="ko-KR" altLang="en-US" sz="1800" b="0" baseline="0" dirty="0" smtClean="0">
                          <a:solidFill>
                            <a:schemeClr val="tx1"/>
                          </a:solidFill>
                          <a:latin typeface="+mn-lt"/>
                        </a:rPr>
                        <a:t>앱 로고</a:t>
                      </a:r>
                      <a:r>
                        <a:rPr lang="en-US" altLang="ko-KR" sz="1800" b="0" baseline="0" dirty="0" smtClean="0">
                          <a:solidFill>
                            <a:schemeClr val="tx1"/>
                          </a:solidFill>
                          <a:latin typeface="+mn-lt"/>
                        </a:rPr>
                        <a:t> </a:t>
                      </a:r>
                      <a:r>
                        <a:rPr lang="ko-KR" altLang="en-US" sz="1800" b="0" baseline="0" dirty="0" smtClean="0">
                          <a:solidFill>
                            <a:schemeClr val="tx1"/>
                          </a:solidFill>
                          <a:latin typeface="+mn-lt"/>
                        </a:rPr>
                        <a:t>또는 대표 이미지 </a:t>
                      </a:r>
                      <a:r>
                        <a:rPr lang="en-US" altLang="ko-KR" sz="1800" b="0" baseline="0" dirty="0" smtClean="0">
                          <a:solidFill>
                            <a:schemeClr val="tx1"/>
                          </a:solidFill>
                          <a:latin typeface="+mn-lt"/>
                        </a:rPr>
                        <a:t>1</a:t>
                      </a:r>
                      <a:r>
                        <a:rPr lang="ko-KR" altLang="en-US" sz="1800" b="0" baseline="0" dirty="0" smtClean="0">
                          <a:solidFill>
                            <a:schemeClr val="tx1"/>
                          </a:solidFill>
                          <a:latin typeface="+mn-lt"/>
                        </a:rPr>
                        <a:t>개 첨부</a:t>
                      </a:r>
                      <a:endParaRPr lang="ko-KR" altLang="en-US" sz="1800" b="0" dirty="0" smtClean="0">
                        <a:solidFill>
                          <a:schemeClr val="tx1"/>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3143481">
                <a:tc>
                  <a:txBody>
                    <a:bodyPr/>
                    <a:lstStyle/>
                    <a:p>
                      <a:pPr algn="ctr" latinLnBrk="1"/>
                      <a:r>
                        <a:rPr lang="ko-KR" altLang="en-US" b="1" dirty="0" smtClean="0">
                          <a:solidFill>
                            <a:schemeClr val="bg1"/>
                          </a:solidFill>
                        </a:rPr>
                        <a:t>서비스</a:t>
                      </a:r>
                      <a:endParaRPr lang="en-US" altLang="ko-KR" b="1" dirty="0" smtClean="0">
                        <a:solidFill>
                          <a:schemeClr val="bg1"/>
                        </a:solidFill>
                      </a:endParaRPr>
                    </a:p>
                    <a:p>
                      <a:pPr algn="ctr" latinLnBrk="1"/>
                      <a:r>
                        <a:rPr lang="ko-KR" altLang="en-US" b="1" dirty="0" smtClean="0">
                          <a:solidFill>
                            <a:schemeClr val="bg1"/>
                          </a:solidFill>
                        </a:rPr>
                        <a:t>상세 이미지</a:t>
                      </a:r>
                      <a:endParaRPr lang="en-US" altLang="ko-KR"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800" b="0" dirty="0" smtClean="0">
                          <a:solidFill>
                            <a:srgbClr val="FF0000"/>
                          </a:solidFill>
                          <a:latin typeface="+mn-lt"/>
                        </a:rPr>
                        <a:t>※ </a:t>
                      </a:r>
                      <a:r>
                        <a:rPr lang="ko-KR" altLang="en-US" sz="1800" b="0" dirty="0" smtClean="0">
                          <a:solidFill>
                            <a:srgbClr val="FF0000"/>
                          </a:solidFill>
                          <a:latin typeface="+mn-lt"/>
                        </a:rPr>
                        <a:t>본 가이드 문구 삭제 후 이미지 첨부</a:t>
                      </a:r>
                      <a:endParaRPr lang="en-US" altLang="ko-KR" sz="1800" b="0" dirty="0" smtClean="0">
                        <a:solidFill>
                          <a:srgbClr val="FF0000"/>
                        </a:solidFill>
                        <a:latin typeface="+mn-lt"/>
                      </a:endParaRPr>
                    </a:p>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1800" b="0" baseline="0" dirty="0" smtClean="0">
                          <a:solidFill>
                            <a:schemeClr val="tx1"/>
                          </a:solidFill>
                          <a:latin typeface="+mn-lt"/>
                        </a:rPr>
                        <a:t>서비스 주요 화면 이미지 </a:t>
                      </a:r>
                      <a:r>
                        <a:rPr lang="en-US" altLang="ko-KR" sz="1800" b="0" baseline="0" dirty="0" smtClean="0">
                          <a:solidFill>
                            <a:schemeClr val="tx1"/>
                          </a:solidFill>
                          <a:latin typeface="+mn-lt"/>
                        </a:rPr>
                        <a:t>3~5</a:t>
                      </a:r>
                      <a:r>
                        <a:rPr lang="ko-KR" altLang="en-US" sz="1800" b="0" baseline="0" dirty="0" smtClean="0">
                          <a:solidFill>
                            <a:schemeClr val="tx1"/>
                          </a:solidFill>
                          <a:latin typeface="+mn-lt"/>
                        </a:rPr>
                        <a:t>개 첨부</a:t>
                      </a:r>
                      <a:endParaRPr lang="ko-KR" altLang="en-US" sz="1800" b="0" dirty="0" smtClean="0">
                        <a:solidFill>
                          <a:schemeClr val="tx1"/>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412154"/>
                  </a:ext>
                </a:extLst>
              </a:tr>
            </a:tbl>
          </a:graphicData>
        </a:graphic>
      </p:graphicFrame>
    </p:spTree>
    <p:extLst>
      <p:ext uri="{BB962C8B-B14F-4D97-AF65-F5344CB8AC3E}">
        <p14:creationId xmlns:p14="http://schemas.microsoft.com/office/powerpoint/2010/main" val="28229692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p:cNvGraphicFramePr>
            <a:graphicFrameLocks noGrp="1"/>
          </p:cNvGraphicFramePr>
          <p:nvPr>
            <p:extLst>
              <p:ext uri="{D42A27DB-BD31-4B8C-83A1-F6EECF244321}">
                <p14:modId xmlns:p14="http://schemas.microsoft.com/office/powerpoint/2010/main" val="26352838"/>
              </p:ext>
            </p:extLst>
          </p:nvPr>
        </p:nvGraphicFramePr>
        <p:xfrm>
          <a:off x="287250" y="1218429"/>
          <a:ext cx="11649825" cy="5079734"/>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1944404">
                <a:tc>
                  <a:txBody>
                    <a:bodyPr/>
                    <a:lstStyle/>
                    <a:p>
                      <a:pPr algn="ctr" latinLnBrk="1"/>
                      <a:r>
                        <a:rPr lang="ko-KR" altLang="en-US" b="1" dirty="0" smtClean="0">
                          <a:solidFill>
                            <a:schemeClr val="bg1"/>
                          </a:solidFill>
                        </a:rPr>
                        <a:t>특화 </a:t>
                      </a:r>
                      <a:r>
                        <a:rPr lang="ko-KR" altLang="en-US" b="1" dirty="0" err="1" smtClean="0">
                          <a:solidFill>
                            <a:schemeClr val="bg1"/>
                          </a:solidFill>
                        </a:rPr>
                        <a:t>지역명</a:t>
                      </a:r>
                      <a:endParaRPr lang="en-US" altLang="ko-KR" b="1" dirty="0" smtClean="0">
                        <a:solidFill>
                          <a:schemeClr val="bg1"/>
                        </a:solidFill>
                      </a:endParaRPr>
                    </a:p>
                    <a:p>
                      <a:pPr algn="ctr" latinLnBrk="1"/>
                      <a:r>
                        <a:rPr lang="en-US" altLang="ko-KR" sz="1600" b="1" dirty="0" smtClean="0">
                          <a:solidFill>
                            <a:schemeClr val="bg1"/>
                          </a:solidFill>
                        </a:rPr>
                        <a:t>* </a:t>
                      </a:r>
                      <a:r>
                        <a:rPr lang="ko-KR" altLang="en-US" sz="1600" b="1" dirty="0" smtClean="0">
                          <a:solidFill>
                            <a:schemeClr val="bg1"/>
                          </a:solidFill>
                        </a:rPr>
                        <a:t>서울 제외</a:t>
                      </a:r>
                      <a:endParaRPr lang="ko-KR" altLang="en-US" sz="1600"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lvl="0" indent="0" algn="just" rtl="0">
                        <a:spcBef>
                          <a:spcPts val="0"/>
                        </a:spcBef>
                        <a:spcAft>
                          <a:spcPts val="0"/>
                        </a:spcAft>
                        <a:buNone/>
                      </a:pPr>
                      <a:r>
                        <a:rPr sz="1600" b="0">
                          <a:solidFill>
                            <a:srgbClr val="1A1A1A"/>
                          </a:solidFill>
                        </a:rPr>
                        <a:t>부산광역시 (원도심 일대: 중구·영도구·동구 등)</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3135330">
                <a:tc>
                  <a:txBody>
                    <a:bodyPr/>
                    <a:lstStyle/>
                    <a:p>
                      <a:pPr algn="ctr" latinLnBrk="1"/>
                      <a:r>
                        <a:rPr lang="ko-KR" altLang="en-US" b="1" dirty="0" smtClean="0">
                          <a:solidFill>
                            <a:schemeClr val="bg1"/>
                          </a:solidFill>
                        </a:rPr>
                        <a:t>구현 내용</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lvl="0" indent="0" algn="just" rtl="0">
                        <a:spcBef>
                          <a:spcPts val="0"/>
                        </a:spcBef>
                        <a:spcAft>
                          <a:spcPts val="0"/>
                        </a:spcAft>
                        <a:buNone/>
                      </a:pPr>
                      <a:r>
                        <a:rPr sz="1400" b="0">
                          <a:solidFill>
                            <a:srgbClr val="1A1A1A"/>
                          </a:solidFill>
                        </a:rPr>
                        <a:t>2025년 역대 최다 외국인 관광객(364만 명)이 찾은 부산에서, 해운대·광안리 같은 랜드마크 너머 남포동· 깡통시장·보수동 책방골목·초량 이바구길·영도 등 원도심 로컬 상권을 로컬 주민(LOCAL)이 직접 발굴·등록하면 관리자 심사와 자동 번역(일/영)을 거쳐 한국관광공사 공식 관광데이터와 함께 다국어 지도로 큐레이션함. 지역특화서비스 가점(부산 RTO 특별상) 신청도 검토 중</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26837495"/>
                  </a:ext>
                </a:extLst>
              </a:tr>
            </a:tbl>
          </a:graphicData>
        </a:graphic>
      </p:graphicFrame>
    </p:spTree>
    <p:extLst>
      <p:ext uri="{BB962C8B-B14F-4D97-AF65-F5344CB8AC3E}">
        <p14:creationId xmlns:p14="http://schemas.microsoft.com/office/powerpoint/2010/main" val="3192526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extLst>
              <p:ext uri="{D42A27DB-BD31-4B8C-83A1-F6EECF244321}">
                <p14:modId xmlns:p14="http://schemas.microsoft.com/office/powerpoint/2010/main" val="2957004574"/>
              </p:ext>
            </p:extLst>
          </p:nvPr>
        </p:nvGraphicFramePr>
        <p:xfrm>
          <a:off x="302952" y="1933326"/>
          <a:ext cx="11426308" cy="4605842"/>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7145">
                <a:tc gridSpan="4">
                  <a:txBody>
                    <a:bodyPr/>
                    <a:lstStyle/>
                    <a:p>
                      <a:pPr algn="ctr" latinLnBrk="1"/>
                      <a:r>
                        <a:rPr lang="ko-KR" altLang="en-US" dirty="0" smtClean="0">
                          <a:solidFill>
                            <a:schemeClr val="bg1"/>
                          </a:solidFill>
                        </a:rPr>
                        <a:t>기능</a:t>
                      </a:r>
                      <a:r>
                        <a:rPr lang="ko-KR" altLang="en-US" baseline="0" dirty="0" smtClean="0">
                          <a:solidFill>
                            <a:schemeClr val="bg1"/>
                          </a:solidFill>
                        </a:rPr>
                        <a:t> </a:t>
                      </a:r>
                      <a:r>
                        <a:rPr lang="ko-KR" altLang="en-US" dirty="0" smtClean="0">
                          <a:solidFill>
                            <a:schemeClr val="bg1"/>
                          </a:solidFill>
                        </a:rPr>
                        <a:t>흐름도</a:t>
                      </a:r>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806208">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(캡쳐 화면 첨부 필요)</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(캡쳐 화면 첨부 필요)</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(캡쳐 화면 첨부 필요)</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(캡쳐 화면 첨부 필요)</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433874">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1. LOCAL이 지도 탭에서 스팟 위치를 검색으로 지정하고 카테고리·노출기간을 선택해 등록 신청함</a:t>
                      </a:r>
                      <a:endParaRPr lang="en-US" altLang="ko-KR"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sz="1200" b="0">
                          <a:solidFill>
                            <a:srgbClr val="1A1A1A"/>
                          </a:solidFill>
                        </a:rPr>
                        <a:t>2. 관리자 심사를 통과하면 일본어·영어로 자동 번역되어 지도에 반영됨</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sz="1200" b="0">
                          <a:solidFill>
                            <a:srgbClr val="1A1A1A"/>
                          </a:solidFill>
                        </a:rPr>
                        <a:t>3. TOURIST가 반경 내 인기도 기반으로 노출된 스팟을 다국어로 확인함</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sz="1200" b="0">
                          <a:solidFill>
                            <a:srgbClr val="1A1A1A"/>
                          </a:solidFill>
                        </a:rPr>
                        <a:t>4. 마음에 드는 스팟을 모아 "골목지도"에 담고 코스(동선)로 구성함</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15" name="표 14"/>
          <p:cNvGraphicFramePr>
            <a:graphicFrameLocks noGrp="1"/>
          </p:cNvGraphicFramePr>
          <p:nvPr>
            <p:extLst>
              <p:ext uri="{D42A27DB-BD31-4B8C-83A1-F6EECF244321}">
                <p14:modId xmlns:p14="http://schemas.microsoft.com/office/powerpoint/2010/main" val="2744280268"/>
              </p:ext>
            </p:extLst>
          </p:nvPr>
        </p:nvGraphicFramePr>
        <p:xfrm>
          <a:off x="302952" y="1130530"/>
          <a:ext cx="11426308" cy="73152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236913">
                <a:tc>
                  <a:txBody>
                    <a:bodyPr/>
                    <a:lstStyle/>
                    <a:p>
                      <a:pPr algn="ctr" latinLnBrk="1"/>
                      <a:r>
                        <a:rPr lang="ko-KR" altLang="en-US" b="1" dirty="0" smtClean="0">
                          <a:solidFill>
                            <a:schemeClr val="bg1"/>
                          </a:solidFill>
                        </a:rPr>
                        <a:t>핵심 기능</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latinLnBrk="1"/>
                      <a:r>
                        <a:rPr sz="1800" b="0">
                          <a:solidFill>
                            <a:srgbClr val="1A1A1A"/>
                          </a:solidFill>
                        </a:rPr>
                        <a:t>위치 기반 다국어 로컬 맵 큐레이션</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236913">
                <a:tc>
                  <a:txBody>
                    <a:bodyPr/>
                    <a:lstStyle/>
                    <a:p>
                      <a:pPr algn="ctr" latinLnBrk="1"/>
                      <a:r>
                        <a:rPr lang="ko-KR" altLang="en-US" b="1" dirty="0" smtClean="0">
                          <a:solidFill>
                            <a:schemeClr val="bg1"/>
                          </a:solidFill>
                        </a:rPr>
                        <a:t>기능 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sz="1400" b="0">
                          <a:solidFill>
                            <a:srgbClr val="1A1A1A"/>
                          </a:solidFill>
                        </a:rPr>
                        <a:t>LOCAL이 등록한 스팟을 관리자 심사·자동 번역 후 다국어 마커로 지도에 반영하는 기능입니다.</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spTree>
    <p:extLst>
      <p:ext uri="{BB962C8B-B14F-4D97-AF65-F5344CB8AC3E}">
        <p14:creationId xmlns:p14="http://schemas.microsoft.com/office/powerpoint/2010/main" val="67194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extLst>
              <p:ext uri="{D42A27DB-BD31-4B8C-83A1-F6EECF244321}">
                <p14:modId xmlns:p14="http://schemas.microsoft.com/office/powerpoint/2010/main" val="2957004574"/>
              </p:ext>
            </p:extLst>
          </p:nvPr>
        </p:nvGraphicFramePr>
        <p:xfrm>
          <a:off x="302952" y="1933326"/>
          <a:ext cx="11426308" cy="4605842"/>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7145">
                <a:tc gridSpan="4">
                  <a:txBody>
                    <a:bodyPr/>
                    <a:lstStyle/>
                    <a:p>
                      <a:pPr algn="ctr" latinLnBrk="1"/>
                      <a:r>
                        <a:rPr lang="ko-KR" altLang="en-US" dirty="0" smtClean="0">
                          <a:solidFill>
                            <a:schemeClr val="bg1"/>
                          </a:solidFill>
                        </a:rPr>
                        <a:t>기능</a:t>
                      </a:r>
                      <a:r>
                        <a:rPr lang="ko-KR" altLang="en-US" baseline="0" dirty="0" smtClean="0">
                          <a:solidFill>
                            <a:schemeClr val="bg1"/>
                          </a:solidFill>
                        </a:rPr>
                        <a:t> </a:t>
                      </a:r>
                      <a:r>
                        <a:rPr lang="ko-KR" altLang="en-US" dirty="0" smtClean="0">
                          <a:solidFill>
                            <a:schemeClr val="bg1"/>
                          </a:solidFill>
                        </a:rPr>
                        <a:t>흐름도</a:t>
                      </a:r>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806208">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(캡쳐 화면 첨부 필요)</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(캡쳐 화면 첨부 필요)</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(캡쳐 화면 첨부 필요)</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(캡쳐 화면 첨부 필요)</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433874">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1. 관광객이 궁금한 점을 장소 태그와 함께 질문으로 등록함</a:t>
                      </a:r>
                      <a:endParaRPr lang="en-US" altLang="ko-KR"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sz="1200" b="0">
                          <a:solidFill>
                            <a:srgbClr val="1A1A1A"/>
                          </a:solidFill>
                        </a:rPr>
                        <a:t>2. 로컬 주민이 실시간으로 답변하고, 채택되면 로컬 배지가 부여됨</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sz="1200" b="0">
                          <a:solidFill>
                            <a:srgbClr val="1A1A1A"/>
                          </a:solidFill>
                        </a:rPr>
                        <a:t>3. 현장에서 급한 상황은 SOS 버튼으로 긴급 라우팅되어 빠르게 도움을 받음</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sz="1200" b="0">
                          <a:solidFill>
                            <a:srgbClr val="1A1A1A"/>
                          </a:solidFill>
                        </a:rPr>
                        <a:t>4. 채택된 답변이 상단에 고정되어 다른 관광객도 참고할 수 있음</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15" name="표 14"/>
          <p:cNvGraphicFramePr>
            <a:graphicFrameLocks noGrp="1"/>
          </p:cNvGraphicFramePr>
          <p:nvPr>
            <p:extLst>
              <p:ext uri="{D42A27DB-BD31-4B8C-83A1-F6EECF244321}">
                <p14:modId xmlns:p14="http://schemas.microsoft.com/office/powerpoint/2010/main" val="2744280268"/>
              </p:ext>
            </p:extLst>
          </p:nvPr>
        </p:nvGraphicFramePr>
        <p:xfrm>
          <a:off x="302952" y="1130530"/>
          <a:ext cx="11426308" cy="73152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236913">
                <a:tc>
                  <a:txBody>
                    <a:bodyPr/>
                    <a:lstStyle/>
                    <a:p>
                      <a:pPr algn="ctr" latinLnBrk="1"/>
                      <a:r>
                        <a:rPr lang="ko-KR" altLang="en-US" b="1" dirty="0" smtClean="0">
                          <a:solidFill>
                            <a:schemeClr val="bg1"/>
                          </a:solidFill>
                        </a:rPr>
                        <a:t>핵심 기능</a:t>
                      </a:r>
                      <a:r>
                        <a:rPr lang="en-US" altLang="ko-KR" b="1" dirty="0" smtClean="0">
                          <a:solidFill>
                            <a:schemeClr val="bg1"/>
                          </a:solidFill>
                        </a:rPr>
                        <a:t>2</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latinLnBrk="1"/>
                      <a:r>
                        <a:rPr sz="1800" b="0">
                          <a:solidFill>
                            <a:srgbClr val="1A1A1A"/>
                          </a:solidFill>
                        </a:rPr>
                        <a:t>실시간 로컬-관광객 Q&amp;A 커뮤니티</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236913">
                <a:tc>
                  <a:txBody>
                    <a:bodyPr/>
                    <a:lstStyle/>
                    <a:p>
                      <a:pPr algn="ctr" latinLnBrk="1"/>
                      <a:r>
                        <a:rPr lang="ko-KR" altLang="en-US" b="1" dirty="0" smtClean="0">
                          <a:solidFill>
                            <a:schemeClr val="bg1"/>
                          </a:solidFill>
                        </a:rPr>
                        <a:t>기능 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sz="1400" b="0">
                          <a:solidFill>
                            <a:srgbClr val="1A1A1A"/>
                          </a:solidFill>
                        </a:rPr>
                        <a:t>관광객 질문에 로컬이 실시간 답변하고, 채택 시 로컬 배지와 SOS 긴급 라우팅을 제공합니다.</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spTree>
    <p:extLst>
      <p:ext uri="{BB962C8B-B14F-4D97-AF65-F5344CB8AC3E}">
        <p14:creationId xmlns:p14="http://schemas.microsoft.com/office/powerpoint/2010/main" val="67194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extLst>
              <p:ext uri="{D42A27DB-BD31-4B8C-83A1-F6EECF244321}">
                <p14:modId xmlns:p14="http://schemas.microsoft.com/office/powerpoint/2010/main" val="2957004574"/>
              </p:ext>
            </p:extLst>
          </p:nvPr>
        </p:nvGraphicFramePr>
        <p:xfrm>
          <a:off x="302952" y="1933326"/>
          <a:ext cx="11426308" cy="4605842"/>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7145">
                <a:tc gridSpan="4">
                  <a:txBody>
                    <a:bodyPr/>
                    <a:lstStyle/>
                    <a:p>
                      <a:pPr algn="ctr" latinLnBrk="1"/>
                      <a:r>
                        <a:rPr lang="ko-KR" altLang="en-US" dirty="0" smtClean="0">
                          <a:solidFill>
                            <a:schemeClr val="bg1"/>
                          </a:solidFill>
                        </a:rPr>
                        <a:t>기능</a:t>
                      </a:r>
                      <a:r>
                        <a:rPr lang="ko-KR" altLang="en-US" baseline="0" dirty="0" smtClean="0">
                          <a:solidFill>
                            <a:schemeClr val="bg1"/>
                          </a:solidFill>
                        </a:rPr>
                        <a:t> </a:t>
                      </a:r>
                      <a:r>
                        <a:rPr lang="ko-KR" altLang="en-US" dirty="0" smtClean="0">
                          <a:solidFill>
                            <a:schemeClr val="bg1"/>
                          </a:solidFill>
                        </a:rPr>
                        <a:t>흐름도</a:t>
                      </a:r>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806208">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(캡쳐 화면 첨부 필요)</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(캡쳐 화면 첨부 필요)</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(캡쳐 화면 첨부 필요)</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(캡쳐 화면 첨부 필요)</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433874">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1. 사용자가 로컬 스팟 사진과 캡션, 스팟 태그를 업로드함</a:t>
                      </a:r>
                      <a:endParaRPr lang="en-US" altLang="ko-KR"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sz="1200" b="0">
                          <a:solidFill>
                            <a:srgbClr val="1A1A1A"/>
                          </a:solidFill>
                        </a:rPr>
                        <a:t>2. 피드에서 최신순·인기순으로 다른 사용자의 게시물을 탐색함</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sz="1200" b="0">
                          <a:solidFill>
                            <a:srgbClr val="1A1A1A"/>
                          </a:solidFill>
                        </a:rPr>
                        <a:t>3. 좋아요·저장·공유로 즉시 반응하거나 상세화면에서 댓글로 소통함</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sz="1200" b="0">
                          <a:solidFill>
                            <a:srgbClr val="1A1A1A"/>
                          </a:solidFill>
                        </a:rPr>
                        <a:t>4. 마음에 든 골목지도·코스를 저장해 나만의 여행 일정에 재활용함</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15" name="표 14"/>
          <p:cNvGraphicFramePr>
            <a:graphicFrameLocks noGrp="1"/>
          </p:cNvGraphicFramePr>
          <p:nvPr>
            <p:extLst>
              <p:ext uri="{D42A27DB-BD31-4B8C-83A1-F6EECF244321}">
                <p14:modId xmlns:p14="http://schemas.microsoft.com/office/powerpoint/2010/main" val="2744280268"/>
              </p:ext>
            </p:extLst>
          </p:nvPr>
        </p:nvGraphicFramePr>
        <p:xfrm>
          <a:off x="302952" y="1130530"/>
          <a:ext cx="11426308" cy="73152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236913">
                <a:tc>
                  <a:txBody>
                    <a:bodyPr/>
                    <a:lstStyle/>
                    <a:p>
                      <a:pPr algn="ctr" latinLnBrk="1"/>
                      <a:r>
                        <a:rPr lang="ko-KR" altLang="en-US" b="1" dirty="0" smtClean="0">
                          <a:solidFill>
                            <a:schemeClr val="bg1"/>
                          </a:solidFill>
                        </a:rPr>
                        <a:t>핵심 기능</a:t>
                      </a:r>
                      <a:r>
                        <a:rPr lang="en-US" altLang="ko-KR" b="1" dirty="0" smtClean="0">
                          <a:solidFill>
                            <a:schemeClr val="bg1"/>
                          </a:solidFill>
                        </a:rPr>
                        <a:t>3</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latinLnBrk="1"/>
                      <a:r>
                        <a:rPr sz="1800" b="0">
                          <a:solidFill>
                            <a:srgbClr val="1A1A1A"/>
                          </a:solidFill>
                        </a:rPr>
                        <a:t>감성 로컬 스팟 사진 탐색 (피드)</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236913">
                <a:tc>
                  <a:txBody>
                    <a:bodyPr/>
                    <a:lstStyle/>
                    <a:p>
                      <a:pPr algn="ctr" latinLnBrk="1"/>
                      <a:r>
                        <a:rPr lang="ko-KR" altLang="en-US" b="1" dirty="0" smtClean="0">
                          <a:solidFill>
                            <a:schemeClr val="bg1"/>
                          </a:solidFill>
                        </a:rPr>
                        <a:t>기능 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sz="1400" b="0">
                          <a:solidFill>
                            <a:srgbClr val="1A1A1A"/>
                          </a:solidFill>
                        </a:rPr>
                        <a:t>로컬 스팟 사진을 인스타식 즉시 반응과 당근마켓식 상세화면으로 탐색하는 피드 기능입니다.</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spTree>
    <p:extLst>
      <p:ext uri="{BB962C8B-B14F-4D97-AF65-F5344CB8AC3E}">
        <p14:creationId xmlns:p14="http://schemas.microsoft.com/office/powerpoint/2010/main" val="67194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4567" y="1101012"/>
            <a:ext cx="4770658" cy="307777"/>
          </a:xfrm>
          <a:prstGeom prst="rect">
            <a:avLst/>
          </a:prstGeom>
          <a:solidFill>
            <a:srgbClr val="FF6F00"/>
          </a:solidFill>
        </p:spPr>
        <p:txBody>
          <a:bodyPr wrap="square" rtlCol="0">
            <a:spAutoFit/>
          </a:bodyPr>
          <a:lstStyle/>
          <a:p>
            <a:pPr algn="ctr"/>
            <a:r>
              <a:rPr lang="ko-KR" altLang="en-US" sz="1400" b="1" dirty="0" smtClean="0">
                <a:solidFill>
                  <a:schemeClr val="bg1"/>
                </a:solidFill>
              </a:rPr>
              <a:t>서비스 개발에 활용한 한국관광공사 </a:t>
            </a:r>
            <a:r>
              <a:rPr lang="en-US" altLang="ko-KR" sz="1400" b="1" dirty="0" smtClean="0">
                <a:solidFill>
                  <a:schemeClr val="bg1"/>
                </a:solidFill>
              </a:rPr>
              <a:t>OpenAPI </a:t>
            </a:r>
            <a:r>
              <a:rPr lang="ko-KR" altLang="en-US" sz="1400" b="1" dirty="0" smtClean="0">
                <a:solidFill>
                  <a:schemeClr val="bg1"/>
                </a:solidFill>
              </a:rPr>
              <a:t>리스트</a:t>
            </a:r>
            <a:endParaRPr lang="ko-KR" altLang="en-US" sz="1400" b="1" dirty="0">
              <a:solidFill>
                <a:schemeClr val="bg1"/>
              </a:solidFill>
            </a:endParaRPr>
          </a:p>
        </p:txBody>
      </p:sp>
      <p:graphicFrame>
        <p:nvGraphicFramePr>
          <p:cNvPr id="7" name="표 6"/>
          <p:cNvGraphicFramePr>
            <a:graphicFrameLocks noGrp="1"/>
          </p:cNvGraphicFramePr>
          <p:nvPr>
            <p:extLst>
              <p:ext uri="{D42A27DB-BD31-4B8C-83A1-F6EECF244321}">
                <p14:modId xmlns:p14="http://schemas.microsoft.com/office/powerpoint/2010/main" val="1226638178"/>
              </p:ext>
            </p:extLst>
          </p:nvPr>
        </p:nvGraphicFramePr>
        <p:xfrm>
          <a:off x="174566" y="1646098"/>
          <a:ext cx="11628657" cy="3789680"/>
        </p:xfrm>
        <a:graphic>
          <a:graphicData uri="http://schemas.openxmlformats.org/drawingml/2006/table">
            <a:tbl>
              <a:tblPr firstRow="1" bandRow="1">
                <a:tableStyleId>{5C22544A-7EE6-4342-B048-85BDC9FD1C3A}</a:tableStyleId>
              </a:tblPr>
              <a:tblGrid>
                <a:gridCol w="821150">
                  <a:extLst>
                    <a:ext uri="{9D8B030D-6E8A-4147-A177-3AD203B41FA5}">
                      <a16:colId xmlns:a16="http://schemas.microsoft.com/office/drawing/2014/main" val="842166946"/>
                    </a:ext>
                  </a:extLst>
                </a:gridCol>
                <a:gridCol w="1816388">
                  <a:extLst>
                    <a:ext uri="{9D8B030D-6E8A-4147-A177-3AD203B41FA5}">
                      <a16:colId xmlns:a16="http://schemas.microsoft.com/office/drawing/2014/main" val="3903607114"/>
                    </a:ext>
                  </a:extLst>
                </a:gridCol>
                <a:gridCol w="8991119">
                  <a:extLst>
                    <a:ext uri="{9D8B030D-6E8A-4147-A177-3AD203B41FA5}">
                      <a16:colId xmlns:a16="http://schemas.microsoft.com/office/drawing/2014/main" val="2519424337"/>
                    </a:ext>
                  </a:extLst>
                </a:gridCol>
              </a:tblGrid>
              <a:tr h="370840">
                <a:tc rowSpan="2">
                  <a:txBody>
                    <a:bodyPr/>
                    <a:lstStyle/>
                    <a:p>
                      <a:pPr algn="ctr" latinLnBrk="1"/>
                      <a:r>
                        <a:rPr lang="en-US" altLang="ko-KR" sz="3200" b="1" dirty="0" smtClean="0">
                          <a:solidFill>
                            <a:schemeClr val="tx1"/>
                          </a:solidFill>
                        </a:rPr>
                        <a:t>1</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dirty="0" smtClean="0">
                          <a:solidFill>
                            <a:schemeClr val="bg1"/>
                          </a:solidFill>
                        </a:rPr>
                        <a:t>API</a:t>
                      </a:r>
                      <a:r>
                        <a:rPr lang="ko-KR" altLang="en-US" b="1" dirty="0" smtClean="0">
                          <a:solidFill>
                            <a:schemeClr val="bg1"/>
                          </a:solidFill>
                        </a:rPr>
                        <a:t>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400" b="0">
                          <a:solidFill>
                            <a:srgbClr val="1A1A1A"/>
                          </a:solidFill>
                        </a:rPr>
                        <a:t>한국관광공사 TourAPI(KorService2) - 지역기반 관광정보조회(areaBasedList2)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77720883"/>
                  </a:ext>
                </a:extLst>
              </a:tr>
              <a:tr h="370840">
                <a:tc vMerge="1">
                  <a:txBody>
                    <a:bodyPr/>
                    <a:lstStyle/>
                    <a:p>
                      <a:pPr latinLnBrk="1"/>
                      <a:endParaRPr lang="ko-KR" altLang="en-US" dirty="0"/>
                    </a:p>
                  </a:txBody>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400" b="0">
                          <a:solidFill>
                            <a:srgbClr val="1A1A1A"/>
                          </a:solidFill>
                        </a:rPr>
                        <a:t>부산 지역 공식 관광지 목록을 실시간 호출로 조회해 위치 기반 로컬 맵에 반영하는 데 활용 (모든 TourAPI 데이터는 실시간 호출 원칙을 준수, 출처 ⓒ한국관광공사로 표기)</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7522436"/>
                  </a:ext>
                </a:extLst>
              </a:tr>
              <a:tr h="381000">
                <a:tc rowSpan="2">
                  <a:txBody>
                    <a:bodyPr/>
                    <a:lstStyle/>
                    <a:p>
                      <a:pPr algn="ctr" latinLnBrk="1"/>
                      <a:r>
                        <a:rPr lang="en-US" altLang="ko-KR" sz="3200" b="1" dirty="0" smtClean="0">
                          <a:solidFill>
                            <a:schemeClr val="tx1"/>
                          </a:solidFill>
                        </a:rPr>
                        <a:t>2</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dirty="0" smtClean="0">
                          <a:solidFill>
                            <a:schemeClr val="bg1"/>
                          </a:solidFill>
                        </a:rPr>
                        <a:t>API</a:t>
                      </a:r>
                      <a:r>
                        <a:rPr lang="ko-KR" altLang="en-US" b="1" dirty="0" smtClean="0">
                          <a:solidFill>
                            <a:schemeClr val="bg1"/>
                          </a:solidFill>
                        </a:rPr>
                        <a:t>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sz="1400" b="0">
                          <a:solidFill>
                            <a:srgbClr val="1A1A1A"/>
                          </a:solidFill>
                        </a:rPr>
                        <a:t>한국관광공사 TourAPI(KorService2) - 공통정보조회(detailCommon2)</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58026807"/>
                  </a:ext>
                </a:extLst>
              </a:tr>
              <a:tr h="381000">
                <a:tc vMerge="1">
                  <a:txBody>
                    <a:bodyPr/>
                    <a:lstStyle/>
                    <a:p>
                      <a:pPr latinLnBrk="1"/>
                      <a:endParaRPr lang="ko-KR" altLang="en-US"/>
                    </a:p>
                  </a:txBody>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sz="1400" b="0">
                          <a:solidFill>
                            <a:srgbClr val="1A1A1A"/>
                          </a:solidFill>
                        </a:rPr>
                        <a:t>관광지 개요·주소·좌표·대표사진 등 스팟 상세 기본정보 제공에 활용</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3851369"/>
                  </a:ext>
                </a:extLst>
              </a:tr>
              <a:tr h="381000">
                <a:tc rowSpan="2">
                  <a:txBody>
                    <a:bodyPr/>
                    <a:lstStyle/>
                    <a:p>
                      <a:pPr algn="ctr" latinLnBrk="1"/>
                      <a:r>
                        <a:rPr lang="en-US" altLang="ko-KR" sz="3200" b="1" dirty="0" smtClean="0">
                          <a:solidFill>
                            <a:schemeClr val="tx1"/>
                          </a:solidFill>
                        </a:rPr>
                        <a:t>3</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dirty="0" smtClean="0">
                          <a:solidFill>
                            <a:schemeClr val="bg1"/>
                          </a:solidFill>
                        </a:rPr>
                        <a:t>API</a:t>
                      </a:r>
                      <a:r>
                        <a:rPr lang="ko-KR" altLang="en-US" b="1" dirty="0" smtClean="0">
                          <a:solidFill>
                            <a:schemeClr val="bg1"/>
                          </a:solidFill>
                        </a:rPr>
                        <a:t>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sz="1400" b="0">
                          <a:solidFill>
                            <a:srgbClr val="1A1A1A"/>
                          </a:solidFill>
                        </a:rPr>
                        <a:t>한국관광공사 TourAPI(KorService2) - 소개정보조회(detailIntro2)</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87554315"/>
                  </a:ext>
                </a:extLst>
              </a:tr>
              <a:tr h="381000">
                <a:tc vMerge="1">
                  <a:txBody>
                    <a:bodyPr/>
                    <a:lstStyle/>
                    <a:p>
                      <a:pPr algn="ctr" latinLnBrk="1"/>
                      <a:endParaRPr lang="ko-KR" altLang="en-US" sz="3200"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1"/>
                    </a:solidFill>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sz="1400" b="0">
                          <a:solidFill>
                            <a:srgbClr val="1A1A1A"/>
                          </a:solidFill>
                        </a:rPr>
                        <a:t>운영시간·요금 등 콘텐츠 타입별 상세 정보 제공에 활용</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90228473"/>
                  </a:ext>
                </a:extLst>
              </a:tr>
              <a:tr h="381000">
                <a:tc rowSpan="2">
                  <a:txBody>
                    <a:bodyPr/>
                    <a:lstStyle/>
                    <a:p>
                      <a:pPr algn="ctr" latinLnBrk="1"/>
                      <a:r>
                        <a:rPr lang="en-US" altLang="ko-KR" sz="3200" b="1" dirty="0" smtClean="0">
                          <a:solidFill>
                            <a:schemeClr val="tx1"/>
                          </a:solidFill>
                        </a:rPr>
                        <a:t>4</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dirty="0" smtClean="0">
                          <a:solidFill>
                            <a:schemeClr val="bg1"/>
                          </a:solidFill>
                        </a:rPr>
                        <a:t>API</a:t>
                      </a:r>
                      <a:r>
                        <a:rPr lang="ko-KR" altLang="en-US" b="1" dirty="0" smtClean="0">
                          <a:solidFill>
                            <a:schemeClr val="bg1"/>
                          </a:solidFill>
                        </a:rPr>
                        <a:t>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sz="1400" b="0">
                          <a:solidFill>
                            <a:srgbClr val="1A1A1A"/>
                          </a:solidFill>
                        </a:rPr>
                        <a:t>한국관광공사 연관관광지정보서비스(TarRlteTarService1)</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529229970"/>
                  </a:ext>
                </a:extLst>
              </a:tr>
              <a:tr h="381000">
                <a:tc vMerge="1">
                  <a:txBody>
                    <a:bodyPr/>
                    <a:lstStyle/>
                    <a:p>
                      <a:pPr algn="ctr" latinLnBrk="1"/>
                      <a:endParaRPr lang="ko-KR" altLang="en-US" sz="3200"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1"/>
                    </a:solidFill>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sz="1400" b="0">
                          <a:solidFill>
                            <a:srgbClr val="1A1A1A"/>
                          </a:solidFill>
                        </a:rPr>
                        <a:t>스팟 상세 화면의 인근 연관 관광지 추천 및 이미 유명한 랜드마크를 골목 큐레이션에서 자동 제외하는 필터링 기준으로 활용</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67204627"/>
                  </a:ext>
                </a:extLst>
              </a:tr>
              <a:tr h="381000">
                <a:tc rowSpan="2">
                  <a:txBody>
                    <a:bodyPr/>
                    <a:lstStyle/>
                    <a:p>
                      <a:pPr algn="ctr" latinLnBrk="1"/>
                      <a:r>
                        <a:rPr lang="en-US" altLang="ko-KR" sz="3200" b="1" dirty="0" smtClean="0">
                          <a:solidFill>
                            <a:schemeClr val="tx1"/>
                          </a:solidFill>
                        </a:rPr>
                        <a:t>5</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dirty="0" smtClean="0">
                          <a:solidFill>
                            <a:schemeClr val="bg1"/>
                          </a:solidFill>
                        </a:rPr>
                        <a:t>API</a:t>
                      </a:r>
                      <a:r>
                        <a:rPr lang="ko-KR" altLang="en-US" b="1" dirty="0" smtClean="0">
                          <a:solidFill>
                            <a:schemeClr val="bg1"/>
                          </a:solidFill>
                        </a:rPr>
                        <a:t>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sz="1400" b="0">
                          <a:solidFill>
                            <a:srgbClr val="1A1A1A"/>
                          </a:solidFill>
                        </a:rPr>
                        <a:t>한국관광공사 관광사진정보서비스</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8013552"/>
                  </a:ext>
                </a:extLst>
              </a:tr>
              <a:tr h="381000">
                <a:tc vMerge="1">
                  <a:txBody>
                    <a:bodyPr/>
                    <a:lstStyle/>
                    <a:p>
                      <a:pPr algn="ctr" latinLnBrk="1"/>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sz="1400" b="0">
                          <a:solidFill>
                            <a:srgbClr val="1A1A1A"/>
                          </a:solidFill>
                        </a:rPr>
                        <a:t>감성 로컬 스팟 사진 탐색(피드)에 활용할 고품질 관광 사진 데이터 수집에 활용</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93688541"/>
                  </a:ext>
                </a:extLst>
              </a:tr>
            </a:tbl>
          </a:graphicData>
        </a:graphic>
      </p:graphicFrame>
    </p:spTree>
    <p:extLst>
      <p:ext uri="{BB962C8B-B14F-4D97-AF65-F5344CB8AC3E}">
        <p14:creationId xmlns:p14="http://schemas.microsoft.com/office/powerpoint/2010/main" val="22229470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4567" y="1101012"/>
            <a:ext cx="3893580" cy="307777"/>
          </a:xfrm>
          <a:prstGeom prst="rect">
            <a:avLst/>
          </a:prstGeom>
          <a:solidFill>
            <a:srgbClr val="FF6F00"/>
          </a:solidFill>
        </p:spPr>
        <p:txBody>
          <a:bodyPr wrap="square" rtlCol="0">
            <a:spAutoFit/>
          </a:bodyPr>
          <a:lstStyle/>
          <a:p>
            <a:pPr algn="ctr"/>
            <a:r>
              <a:rPr lang="ko-KR" altLang="en-US" sz="1400" b="1" dirty="0" smtClean="0">
                <a:solidFill>
                  <a:schemeClr val="bg1"/>
                </a:solidFill>
              </a:rPr>
              <a:t>서비스 개발에 활용한 기타 </a:t>
            </a:r>
            <a:r>
              <a:rPr lang="en-US" altLang="ko-KR" sz="1400" b="1" dirty="0" smtClean="0">
                <a:solidFill>
                  <a:schemeClr val="bg1"/>
                </a:solidFill>
              </a:rPr>
              <a:t>API, </a:t>
            </a:r>
            <a:r>
              <a:rPr lang="ko-KR" altLang="en-US" sz="1400" b="1" dirty="0" err="1" smtClean="0">
                <a:solidFill>
                  <a:schemeClr val="bg1"/>
                </a:solidFill>
              </a:rPr>
              <a:t>파일데이터</a:t>
            </a:r>
            <a:endParaRPr lang="ko-KR" altLang="en-US" sz="1400" b="1" dirty="0">
              <a:solidFill>
                <a:schemeClr val="bg1"/>
              </a:solidFill>
            </a:endParaRPr>
          </a:p>
        </p:txBody>
      </p:sp>
      <p:graphicFrame>
        <p:nvGraphicFramePr>
          <p:cNvPr id="7" name="표 6"/>
          <p:cNvGraphicFramePr>
            <a:graphicFrameLocks noGrp="1"/>
          </p:cNvGraphicFramePr>
          <p:nvPr>
            <p:extLst>
              <p:ext uri="{D42A27DB-BD31-4B8C-83A1-F6EECF244321}">
                <p14:modId xmlns:p14="http://schemas.microsoft.com/office/powerpoint/2010/main" val="1310626099"/>
              </p:ext>
            </p:extLst>
          </p:nvPr>
        </p:nvGraphicFramePr>
        <p:xfrm>
          <a:off x="174566" y="1646098"/>
          <a:ext cx="11628657" cy="2265680"/>
        </p:xfrm>
        <a:graphic>
          <a:graphicData uri="http://schemas.openxmlformats.org/drawingml/2006/table">
            <a:tbl>
              <a:tblPr firstRow="1" bandRow="1">
                <a:tableStyleId>{5C22544A-7EE6-4342-B048-85BDC9FD1C3A}</a:tableStyleId>
              </a:tblPr>
              <a:tblGrid>
                <a:gridCol w="821150">
                  <a:extLst>
                    <a:ext uri="{9D8B030D-6E8A-4147-A177-3AD203B41FA5}">
                      <a16:colId xmlns:a16="http://schemas.microsoft.com/office/drawing/2014/main" val="842166946"/>
                    </a:ext>
                  </a:extLst>
                </a:gridCol>
                <a:gridCol w="1816388">
                  <a:extLst>
                    <a:ext uri="{9D8B030D-6E8A-4147-A177-3AD203B41FA5}">
                      <a16:colId xmlns:a16="http://schemas.microsoft.com/office/drawing/2014/main" val="3903607114"/>
                    </a:ext>
                  </a:extLst>
                </a:gridCol>
                <a:gridCol w="8991119">
                  <a:extLst>
                    <a:ext uri="{9D8B030D-6E8A-4147-A177-3AD203B41FA5}">
                      <a16:colId xmlns:a16="http://schemas.microsoft.com/office/drawing/2014/main" val="2519424337"/>
                    </a:ext>
                  </a:extLst>
                </a:gridCol>
              </a:tblGrid>
              <a:tr h="370840">
                <a:tc rowSpan="2">
                  <a:txBody>
                    <a:bodyPr/>
                    <a:lstStyle/>
                    <a:p>
                      <a:pPr algn="ctr" latinLnBrk="1"/>
                      <a:r>
                        <a:rPr lang="en-US" altLang="ko-KR" sz="3200" b="1" dirty="0" smtClean="0">
                          <a:solidFill>
                            <a:schemeClr val="tx1"/>
                          </a:solidFill>
                        </a:rPr>
                        <a:t>1</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dirty="0" err="1" smtClean="0">
                          <a:solidFill>
                            <a:schemeClr val="bg1"/>
                          </a:solidFill>
                        </a:rPr>
                        <a:t>데이터명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400" b="0">
                          <a:solidFill>
                            <a:srgbClr val="1A1A1A"/>
                          </a:solidFill>
                        </a:rPr>
                        <a:t>카카오 로컬 API (키워드 장소검색)</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77720883"/>
                  </a:ext>
                </a:extLst>
              </a:tr>
              <a:tr h="370840">
                <a:tc vMerge="1">
                  <a:txBody>
                    <a:bodyPr/>
                    <a:lstStyle/>
                    <a:p>
                      <a:pPr latinLnBrk="1"/>
                      <a:endParaRPr lang="ko-KR" altLang="en-US" dirty="0"/>
                    </a:p>
                  </a:txBody>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400" b="0">
                          <a:solidFill>
                            <a:srgbClr val="1A1A1A"/>
                          </a:solidFill>
                        </a:rPr>
                        <a:t>부산 원도심 노포·골목·카페 등 로컬 스팟의 좌표·기본정보 수집 및 LOCAL 스팟 등록 시 위치 검색에 활용</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7522436"/>
                  </a:ext>
                </a:extLst>
              </a:tr>
              <a:tr h="381000">
                <a:tc rowSpan="2">
                  <a:txBody>
                    <a:bodyPr/>
                    <a:lstStyle/>
                    <a:p>
                      <a:pPr algn="ctr" latinLnBrk="1"/>
                      <a:r>
                        <a:rPr lang="en-US" altLang="ko-KR" sz="3200" b="1" dirty="0" smtClean="0">
                          <a:solidFill>
                            <a:schemeClr val="tx1"/>
                          </a:solidFill>
                        </a:rPr>
                        <a:t>2</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dirty="0" err="1" smtClean="0">
                          <a:solidFill>
                            <a:schemeClr val="bg1"/>
                          </a:solidFill>
                        </a:rPr>
                        <a:t>데이터명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sz="1400" b="0">
                          <a:solidFill>
                            <a:srgbClr val="1A1A1A"/>
                          </a:solidFill>
                        </a:rPr>
                        <a:t>카카오맵 JS SDK</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58026807"/>
                  </a:ext>
                </a:extLst>
              </a:tr>
              <a:tr h="381000">
                <a:tc vMerge="1">
                  <a:txBody>
                    <a:bodyPr/>
                    <a:lstStyle/>
                    <a:p>
                      <a:pPr latinLnBrk="1"/>
                      <a:endParaRPr lang="ko-KR" altLang="en-US"/>
                    </a:p>
                  </a:txBody>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sz="1400" b="0">
                          <a:solidFill>
                            <a:srgbClr val="1A1A1A"/>
                          </a:solidFill>
                        </a:rPr>
                        <a:t>지도 탭의 실제 지도 렌더링, 다국어 마커 표시, 반경 기반 스팟 탐색 UI 구현에 활용</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3851369"/>
                  </a:ext>
                </a:extLst>
              </a:tr>
            </a:tbl>
          </a:graphicData>
        </a:graphic>
      </p:graphicFrame>
    </p:spTree>
    <p:extLst>
      <p:ext uri="{BB962C8B-B14F-4D97-AF65-F5344CB8AC3E}">
        <p14:creationId xmlns:p14="http://schemas.microsoft.com/office/powerpoint/2010/main" val="31773564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p:cNvGraphicFramePr>
            <a:graphicFrameLocks noGrp="1"/>
          </p:cNvGraphicFramePr>
          <p:nvPr>
            <p:extLst>
              <p:ext uri="{D42A27DB-BD31-4B8C-83A1-F6EECF244321}">
                <p14:modId xmlns:p14="http://schemas.microsoft.com/office/powerpoint/2010/main" val="2048382877"/>
              </p:ext>
            </p:extLst>
          </p:nvPr>
        </p:nvGraphicFramePr>
        <p:xfrm>
          <a:off x="287250" y="1218429"/>
          <a:ext cx="11649825" cy="5074306"/>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2466075">
                <a:tc>
                  <a:txBody>
                    <a:bodyPr/>
                    <a:lstStyle/>
                    <a:p>
                      <a:pPr algn="ctr" latinLnBrk="1"/>
                      <a:r>
                        <a:rPr lang="ko-KR" altLang="en-US" b="1" dirty="0" smtClean="0">
                          <a:solidFill>
                            <a:schemeClr val="bg1"/>
                          </a:solidFill>
                        </a:rPr>
                        <a:t>차별성</a:t>
                      </a:r>
                      <a:endParaRPr lang="en-US" altLang="ko-KR"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lvl="0" indent="0" algn="just" rtl="0">
                        <a:spcBef>
                          <a:spcPts val="0"/>
                        </a:spcBef>
                        <a:spcAft>
                          <a:spcPts val="0"/>
                        </a:spcAft>
                        <a:buNone/>
                      </a:pPr>
                      <a:r>
                        <a:rPr sz="1300" b="0">
                          <a:solidFill>
                            <a:srgbClr val="1A1A1A"/>
                          </a:solidFill>
                        </a:rPr>
                        <a:t>COCO는 관광지도를 보여주는 앱이 아닙니다. 랜드마크는 한국관광공사 TourAPI가 이미 알려주고 있습니다. COCO는 그 지도 바깥, 로컬만 아는 골목을 다국어로 번역해 지도 위에 올리고 실시간 Q&amp;A로 살아있게 유지합니다. 한국인 로컬과 외국인 여행자, 향후 부산 거주 외국인까지 아우르는 3중 신뢰 구조, 정보 격차뿐 아니라 현장의 급한 곤란함까지 SOS로 커버하는 실시간 상호작용, 가볍게 모으는 골목지도와 여행 일정을 짜는 코스를 분리한 이원 구조가 기존 랜드마크 중심 관광 앱과의 차별점입니다.</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2608231">
                <a:tc>
                  <a:txBody>
                    <a:bodyPr/>
                    <a:lstStyle/>
                    <a:p>
                      <a:pPr algn="ctr" latinLnBrk="1"/>
                      <a:r>
                        <a:rPr lang="ko-KR" altLang="en-US" b="1" dirty="0" smtClean="0">
                          <a:solidFill>
                            <a:schemeClr val="bg1"/>
                          </a:solidFill>
                        </a:rPr>
                        <a:t>발전계획</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300" b="0">
                          <a:solidFill>
                            <a:srgbClr val="1A1A1A"/>
                          </a:solidFill>
                        </a:rPr>
                        <a:t>코스별(1일차/2일차) 여행 일정 고도화, 조회수·좋아요 기반 인기도 핫플 뱃지, 국가별 방문 통계를 활용한 개인화 추천, 부산 거주 외국인을 위한 신뢰 레이어 신설을 우선 계획하고 있습니다. 이후 지식베이스가 쌓이면 자연어 질의 기반 RAG 스팟 탐색 AI, 소상공인 쿠폰 결제 연동, 전주·경주 등 타 지역 확장을 추진할 예정입니다.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412154"/>
                  </a:ext>
                </a:extLst>
              </a:tr>
            </a:tbl>
          </a:graphicData>
        </a:graphic>
      </p:graphicFrame>
    </p:spTree>
    <p:extLst>
      <p:ext uri="{BB962C8B-B14F-4D97-AF65-F5344CB8AC3E}">
        <p14:creationId xmlns:p14="http://schemas.microsoft.com/office/powerpoint/2010/main" val="398856896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408</TotalTime>
  <Words>549</Words>
  <Application>Microsoft Office PowerPoint</Application>
  <PresentationFormat>와이드스크린</PresentationFormat>
  <Paragraphs>95</Paragraphs>
  <Slides>9</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9</vt:i4>
      </vt:variant>
    </vt:vector>
  </HeadingPairs>
  <TitlesOfParts>
    <vt:vector size="13" baseType="lpstr">
      <vt:lpstr>Noto Sans KR Medium</vt:lpstr>
      <vt:lpstr>맑은 고딕</vt:lpstr>
      <vt:lpstr>Arial</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KTO</dc:creator>
  <cp:lastModifiedBy>USER</cp:lastModifiedBy>
  <cp:revision>64</cp:revision>
  <dcterms:created xsi:type="dcterms:W3CDTF">2026-07-07T05:25:59Z</dcterms:created>
  <dcterms:modified xsi:type="dcterms:W3CDTF">2026-07-29T05:45:18Z</dcterms:modified>
</cp:coreProperties>
</file>